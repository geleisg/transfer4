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DB8DE-9C88-4D92-AD03-36F21EF7C70E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E3F7D-D767-4E4A-BD2C-2CEB9E5509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1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10078-7829-4836-BD8A-7EF63978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80ED74-AE6B-43A4-B394-992DBB745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7472C-86B3-42DE-BE0A-0ACAD166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22CC9-A0A3-4DAC-B1A4-8497964A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6C28F-A2E0-41FC-8669-6A3F45EA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2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07E7E-9723-4740-BD08-BA19DFFC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D25F1-4A75-48DE-9E7B-1166E545D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91786-DE58-4F08-9166-7437F971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F959D-79EC-441B-B341-8419716D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53C82-177D-40A3-8EA1-18E7C3CA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83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FEA02-C43F-42F9-B3CE-ABC006DC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54CE1C-474C-45A7-AD0F-9850335ED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1C7C8-A361-4FB8-AA49-E1F35559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20400-B515-440A-95F6-831F13E7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703EF-8DE3-474C-B495-6382191C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87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9A613-6F11-4AA7-8053-925E3931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22FB33-91C2-4F4D-A88F-C6B905181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57C324-9E94-4B7E-8E4B-176FC9163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487491-D682-418A-96D6-DCC0CCA8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7C34D8-9F08-45EE-9A78-0FDAB2E1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5F1BF-A7EB-42F1-8138-F00160D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FA602-E266-4733-B3F8-420898B0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111818-DCB7-4C9D-8609-65EE80DF0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7A5C12-55C5-4032-A3C3-A21026317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577626-5560-40EA-9392-F87486026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9833E7-2E98-42F4-888D-887191DF3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B3DBEB-BEC1-4AEA-96EA-2725230A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346277-6297-4384-AFF9-3A294324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32B8E7-6FF8-4798-A808-9727A0C3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9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908D-C30B-4796-8C2C-2E348C50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E1CA48-A203-4148-A116-C30A0163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7A08F6-78F5-4ED3-A3C7-C84D802E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657EF0-A946-427E-8073-F2047A58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51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CC6550-4EF7-43B1-A95D-7AB97BF5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7A57D-D55E-4936-BEB6-9406621B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3A773-A1DA-4985-97FA-25C87A89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365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261E6-826E-4AEC-B358-B53C43B5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3CE06-FD71-4AFC-8EAB-010EAFE90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EE0372-4395-4460-A8F0-62FA72A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1C159-0CE1-4531-82EF-C1B3F7B3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455232-81F1-431C-950B-7C1DE454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9439D6-617D-427E-89E2-252D12EC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61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8296D-5B7C-4F30-9AD0-CAA8F57B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852B09-89E2-4C97-B687-5BD9F1C1A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B9B46D-8D18-439C-97D3-808C1342D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45D48F-C39E-407D-8184-ACF97A265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36055D-96DD-4A7B-99B3-2C773CE9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1D0BAC-E000-47C2-BAFA-B4E86D9E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36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F4CB4-5D8C-4320-938B-F0AF6D28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A987DD-C039-43FC-8FF2-9EE66048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2DF2F-0C2A-43AC-9473-7C9830E8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00DF2-95FB-4B1A-AC83-70B15C61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F299A-2A3D-46C0-9D7E-8A168E00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26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738624-5A74-4807-99CB-0AEB0016E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0CFF24-9F40-4F6E-AB85-D997685A2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62185-36ED-458C-856F-A3DBDB04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C48AB3-09A3-49B0-8481-4401D9EF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F1A5E-88FA-4CFF-A093-343B77AE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03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16C0DB-37EE-43AC-ADBD-D016B17C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C5E2DD-26CE-4476-8C0B-587F9D7D3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EFECD-9286-4B28-974E-54CB8F4C2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9CA3-A735-40F8-B847-76D8459BF68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2D9DE-9B76-44E9-9AC2-44A6E9CFF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FD0148-6221-4295-853D-78526708B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15425-C461-46F8-A60E-E74E2BAB2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0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9504CB64-E9BE-4B5B-B4E6-4BE88AE6C098}"/>
              </a:ext>
            </a:extLst>
          </p:cNvPr>
          <p:cNvGrpSpPr/>
          <p:nvPr/>
        </p:nvGrpSpPr>
        <p:grpSpPr>
          <a:xfrm>
            <a:off x="3212465" y="727075"/>
            <a:ext cx="8979535" cy="5591810"/>
            <a:chOff x="150" y="1050"/>
            <a:chExt cx="14141" cy="88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80807BE-3C71-4AFF-BE0A-244CF57F56DB}"/>
                </a:ext>
              </a:extLst>
            </p:cNvPr>
            <p:cNvGrpSpPr/>
            <p:nvPr/>
          </p:nvGrpSpPr>
          <p:grpSpPr>
            <a:xfrm>
              <a:off x="150" y="1720"/>
              <a:ext cx="14041" cy="8136"/>
              <a:chOff x="150" y="1720"/>
              <a:chExt cx="18362" cy="8136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0565D16F-FEEC-4D92-B21F-F7C34AD7B7FA}"/>
                  </a:ext>
                </a:extLst>
              </p:cNvPr>
              <p:cNvCxnSpPr>
                <a:stCxn id="35" idx="2"/>
                <a:endCxn id="49" idx="2"/>
              </p:cNvCxnSpPr>
              <p:nvPr/>
            </p:nvCxnSpPr>
            <p:spPr>
              <a:xfrm flipV="1">
                <a:off x="14504" y="2547"/>
                <a:ext cx="133" cy="658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91DFD12E-DAC0-4896-935B-620448183CFC}"/>
                  </a:ext>
                </a:extLst>
              </p:cNvPr>
              <p:cNvGrpSpPr/>
              <p:nvPr/>
            </p:nvGrpSpPr>
            <p:grpSpPr>
              <a:xfrm>
                <a:off x="150" y="3992"/>
                <a:ext cx="9572" cy="5864"/>
                <a:chOff x="7839" y="4888"/>
                <a:chExt cx="9572" cy="5864"/>
              </a:xfrm>
            </p:grpSpPr>
            <p:cxnSp>
              <p:nvCxnSpPr>
                <p:cNvPr id="54" name="肘形连接符 74">
                  <a:extLst>
                    <a:ext uri="{FF2B5EF4-FFF2-40B4-BE49-F238E27FC236}">
                      <a16:creationId xmlns:a16="http://schemas.microsoft.com/office/drawing/2014/main" id="{DBDB93EF-BDB4-419C-BF79-9FCAC8C29E18}"/>
                    </a:ext>
                  </a:extLst>
                </p:cNvPr>
                <p:cNvCxnSpPr>
                  <a:stCxn id="62" idx="0"/>
                  <a:endCxn id="56" idx="1"/>
                </p:cNvCxnSpPr>
                <p:nvPr/>
              </p:nvCxnSpPr>
              <p:spPr>
                <a:xfrm rot="16200000">
                  <a:off x="7348" y="7364"/>
                  <a:ext cx="4558" cy="1122"/>
                </a:xfrm>
                <a:prstGeom prst="bentConnector2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DC08ED5D-E110-43A5-A0F1-491BBFB3A3A9}"/>
                    </a:ext>
                  </a:extLst>
                </p:cNvPr>
                <p:cNvCxnSpPr>
                  <a:stCxn id="61" idx="0"/>
                  <a:endCxn id="56" idx="2"/>
                </p:cNvCxnSpPr>
                <p:nvPr/>
              </p:nvCxnSpPr>
              <p:spPr>
                <a:xfrm flipV="1">
                  <a:off x="12434" y="6403"/>
                  <a:ext cx="1" cy="380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6" name="圆角矩形 76">
                  <a:extLst>
                    <a:ext uri="{FF2B5EF4-FFF2-40B4-BE49-F238E27FC236}">
                      <a16:creationId xmlns:a16="http://schemas.microsoft.com/office/drawing/2014/main" id="{5FD8E054-DD85-4643-A576-AF446F8DE5CD}"/>
                    </a:ext>
                  </a:extLst>
                </p:cNvPr>
                <p:cNvSpPr/>
                <p:nvPr/>
              </p:nvSpPr>
              <p:spPr>
                <a:xfrm>
                  <a:off x="10188" y="4888"/>
                  <a:ext cx="4493" cy="1515"/>
                </a:xfrm>
                <a:prstGeom prst="roundRect">
                  <a:avLst/>
                </a:prstGeom>
                <a:solidFill>
                  <a:srgbClr val="C4D8FB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DiT</a:t>
                  </a:r>
                  <a:r>
                    <a:rPr lang="en-US" altLang="zh-CN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 Block</a:t>
                  </a:r>
                </a:p>
              </p:txBody>
            </p:sp>
            <p:sp>
              <p:nvSpPr>
                <p:cNvPr id="57" name="圆角矩形 77">
                  <a:extLst>
                    <a:ext uri="{FF2B5EF4-FFF2-40B4-BE49-F238E27FC236}">
                      <a16:creationId xmlns:a16="http://schemas.microsoft.com/office/drawing/2014/main" id="{6CD6ACAF-A77C-42C5-A453-CCE1C428C105}"/>
                    </a:ext>
                  </a:extLst>
                </p:cNvPr>
                <p:cNvSpPr/>
                <p:nvPr/>
              </p:nvSpPr>
              <p:spPr>
                <a:xfrm>
                  <a:off x="10188" y="6788"/>
                  <a:ext cx="4493" cy="549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Patchify</a:t>
                  </a:r>
                </a:p>
              </p:txBody>
            </p:sp>
            <p:sp>
              <p:nvSpPr>
                <p:cNvPr id="58" name="圆角矩形 78">
                  <a:extLst>
                    <a:ext uri="{FF2B5EF4-FFF2-40B4-BE49-F238E27FC236}">
                      <a16:creationId xmlns:a16="http://schemas.microsoft.com/office/drawing/2014/main" id="{88B34031-834D-4065-BF14-BBA55E3B6069}"/>
                    </a:ext>
                  </a:extLst>
                </p:cNvPr>
                <p:cNvSpPr/>
                <p:nvPr/>
              </p:nvSpPr>
              <p:spPr>
                <a:xfrm>
                  <a:off x="10188" y="7616"/>
                  <a:ext cx="4493" cy="549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Add Noise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圆角矩形 79">
                      <a:extLst>
                        <a:ext uri="{FF2B5EF4-FFF2-40B4-BE49-F238E27FC236}">
                          <a16:creationId xmlns:a16="http://schemas.microsoft.com/office/drawing/2014/main" id="{59736819-5AE0-4821-AA94-F5F7AD2CB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45" y="8366"/>
                      <a:ext cx="1178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圆角矩形 7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845" y="8366"/>
                      <a:ext cx="1178" cy="548"/>
                    </a:xfrm>
                    <a:prstGeom prst="roundRect">
                      <a:avLst/>
                    </a:prstGeom>
                    <a:blipFill rotWithShape="1">
                      <a:blip r:embed="rId3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梯形 59">
                  <a:extLst>
                    <a:ext uri="{FF2B5EF4-FFF2-40B4-BE49-F238E27FC236}">
                      <a16:creationId xmlns:a16="http://schemas.microsoft.com/office/drawing/2014/main" id="{03106987-35C6-4224-9D9D-85188B0BFC44}"/>
                    </a:ext>
                  </a:extLst>
                </p:cNvPr>
                <p:cNvSpPr/>
                <p:nvPr/>
              </p:nvSpPr>
              <p:spPr>
                <a:xfrm>
                  <a:off x="11343" y="9137"/>
                  <a:ext cx="2183" cy="888"/>
                </a:xfrm>
                <a:prstGeom prst="trapezoid">
                  <a:avLst>
                    <a:gd name="adj" fmla="val 36824"/>
                  </a:avLst>
                </a:prstGeom>
                <a:solidFill>
                  <a:srgbClr val="D2D5E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3D-VAE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Encoder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圆角矩形 81">
                      <a:extLst>
                        <a:ext uri="{FF2B5EF4-FFF2-40B4-BE49-F238E27FC236}">
                          <a16:creationId xmlns:a16="http://schemas.microsoft.com/office/drawing/2014/main" id="{4F14D843-1B64-4DFB-8DDA-828BAF4A4E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45" y="10204"/>
                      <a:ext cx="1178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i="1" dirty="0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2" name="圆角矩形 8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845" y="10204"/>
                      <a:ext cx="1178" cy="548"/>
                    </a:xfrm>
                    <a:prstGeom prst="roundRect">
                      <a:avLst/>
                    </a:prstGeom>
                    <a:blipFill rotWithShape="1">
                      <a:blip r:embed="rId4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圆角矩形 82">
                      <a:extLst>
                        <a:ext uri="{FF2B5EF4-FFF2-40B4-BE49-F238E27FC236}">
                          <a16:creationId xmlns:a16="http://schemas.microsoft.com/office/drawing/2014/main" id="{886785AD-C8A7-4071-8EE8-7FF2F62EEB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7" y="10204"/>
                      <a:ext cx="1178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i="1" dirty="0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3" name="圆角矩形 8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77" y="10204"/>
                      <a:ext cx="1178" cy="548"/>
                    </a:xfrm>
                    <a:prstGeom prst="roundRect">
                      <a:avLst/>
                    </a:prstGeom>
                    <a:blipFill rotWithShape="1">
                      <a:blip r:embed="rId5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3" name="梯形 62">
                  <a:extLst>
                    <a:ext uri="{FF2B5EF4-FFF2-40B4-BE49-F238E27FC236}">
                      <a16:creationId xmlns:a16="http://schemas.microsoft.com/office/drawing/2014/main" id="{C72916C1-60C0-42E3-8156-0337C3DABC0A}"/>
                    </a:ext>
                  </a:extLst>
                </p:cNvPr>
                <p:cNvSpPr/>
                <p:nvPr/>
              </p:nvSpPr>
              <p:spPr>
                <a:xfrm>
                  <a:off x="7839" y="8913"/>
                  <a:ext cx="2670" cy="1064"/>
                </a:xfrm>
                <a:prstGeom prst="trapezoid">
                  <a:avLst>
                    <a:gd name="adj" fmla="val 36824"/>
                  </a:avLst>
                </a:prstGeom>
                <a:solidFill>
                  <a:srgbClr val="D2D5E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CLIP </a:t>
                  </a:r>
                </a:p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Image Encoder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圆角矩形 84">
                      <a:extLst>
                        <a:ext uri="{FF2B5EF4-FFF2-40B4-BE49-F238E27FC236}">
                          <a16:creationId xmlns:a16="http://schemas.microsoft.com/office/drawing/2014/main" id="{E573B741-A4F5-4B3D-A29D-7FB64F7EF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75" y="10204"/>
                      <a:ext cx="2836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𝐶𝑎𝑚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𝐶𝑎𝑚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4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圆角矩形 8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75" y="10204"/>
                      <a:ext cx="2836" cy="548"/>
                    </a:xfrm>
                    <a:prstGeom prst="roundRect">
                      <a:avLst/>
                    </a:prstGeom>
                    <a:blipFill rotWithShape="1">
                      <a:blip r:embed="rId6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5" name="肘形连接符 85">
                  <a:extLst>
                    <a:ext uri="{FF2B5EF4-FFF2-40B4-BE49-F238E27FC236}">
                      <a16:creationId xmlns:a16="http://schemas.microsoft.com/office/drawing/2014/main" id="{3B529B9A-D959-47AE-BC38-7D7234801977}"/>
                    </a:ext>
                  </a:extLst>
                </p:cNvPr>
                <p:cNvCxnSpPr>
                  <a:stCxn id="64" idx="0"/>
                  <a:endCxn id="56" idx="3"/>
                </p:cNvCxnSpPr>
                <p:nvPr/>
              </p:nvCxnSpPr>
              <p:spPr>
                <a:xfrm rot="16200000" flipV="1">
                  <a:off x="13058" y="7269"/>
                  <a:ext cx="4558" cy="1312"/>
                </a:xfrm>
                <a:prstGeom prst="bentConnector2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768ECB16-670D-4BA3-872B-8E2C96E6E950}"/>
                  </a:ext>
                </a:extLst>
              </p:cNvPr>
              <p:cNvGrpSpPr/>
              <p:nvPr/>
            </p:nvGrpSpPr>
            <p:grpSpPr>
              <a:xfrm>
                <a:off x="10550" y="1720"/>
                <a:ext cx="7892" cy="8136"/>
                <a:chOff x="-2576" y="2068"/>
                <a:chExt cx="10906" cy="8684"/>
              </a:xfrm>
            </p:grpSpPr>
            <p:cxnSp>
              <p:nvCxnSpPr>
                <p:cNvPr id="34" name="肘形连接符 87">
                  <a:extLst>
                    <a:ext uri="{FF2B5EF4-FFF2-40B4-BE49-F238E27FC236}">
                      <a16:creationId xmlns:a16="http://schemas.microsoft.com/office/drawing/2014/main" id="{DABEE166-7252-4BB1-A9F4-7F6D0DDA1104}"/>
                    </a:ext>
                  </a:extLst>
                </p:cNvPr>
                <p:cNvCxnSpPr>
                  <a:stCxn id="52" idx="0"/>
                  <a:endCxn id="39" idx="3"/>
                </p:cNvCxnSpPr>
                <p:nvPr/>
              </p:nvCxnSpPr>
              <p:spPr>
                <a:xfrm rot="16200000" flipV="1">
                  <a:off x="4156" y="7276"/>
                  <a:ext cx="3742" cy="1418"/>
                </a:xfrm>
                <a:prstGeom prst="bentConnector2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圆角矩形 88">
                      <a:extLst>
                        <a:ext uri="{FF2B5EF4-FFF2-40B4-BE49-F238E27FC236}">
                          <a16:creationId xmlns:a16="http://schemas.microsoft.com/office/drawing/2014/main" id="{D89A3DF3-5C99-4837-AC99-65F8E1244F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00" y="9429"/>
                      <a:ext cx="1178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4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圆角矩形 8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00" y="9429"/>
                      <a:ext cx="1178" cy="548"/>
                    </a:xfrm>
                    <a:prstGeom prst="roundRect">
                      <a:avLst/>
                    </a:prstGeom>
                    <a:blipFill rotWithShape="1">
                      <a:blip r:embed="rId7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圆角矩形 89">
                  <a:extLst>
                    <a:ext uri="{FF2B5EF4-FFF2-40B4-BE49-F238E27FC236}">
                      <a16:creationId xmlns:a16="http://schemas.microsoft.com/office/drawing/2014/main" id="{5D5D29C5-9829-42C6-947B-F5AA8269DA37}"/>
                    </a:ext>
                  </a:extLst>
                </p:cNvPr>
                <p:cNvSpPr/>
                <p:nvPr/>
              </p:nvSpPr>
              <p:spPr>
                <a:xfrm>
                  <a:off x="825" y="8566"/>
                  <a:ext cx="4493" cy="549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Patchify</a:t>
                  </a:r>
                </a:p>
              </p:txBody>
            </p:sp>
            <p:sp>
              <p:nvSpPr>
                <p:cNvPr id="37" name="圆角矩形 90">
                  <a:extLst>
                    <a:ext uri="{FF2B5EF4-FFF2-40B4-BE49-F238E27FC236}">
                      <a16:creationId xmlns:a16="http://schemas.microsoft.com/office/drawing/2014/main" id="{F6511E16-AC33-47C0-8279-04B350E57ECC}"/>
                    </a:ext>
                  </a:extLst>
                </p:cNvPr>
                <p:cNvSpPr/>
                <p:nvPr/>
              </p:nvSpPr>
              <p:spPr>
                <a:xfrm>
                  <a:off x="825" y="7703"/>
                  <a:ext cx="4493" cy="549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b*f//4*h//16*d//16</a:t>
                  </a:r>
                </a:p>
              </p:txBody>
            </p:sp>
            <p:sp>
              <p:nvSpPr>
                <p:cNvPr id="38" name="圆角矩形 91">
                  <a:extLst>
                    <a:ext uri="{FF2B5EF4-FFF2-40B4-BE49-F238E27FC236}">
                      <a16:creationId xmlns:a16="http://schemas.microsoft.com/office/drawing/2014/main" id="{5E73002F-9C37-4A06-ADD9-5A28543F3AF2}"/>
                    </a:ext>
                  </a:extLst>
                </p:cNvPr>
                <p:cNvSpPr/>
                <p:nvPr/>
              </p:nvSpPr>
              <p:spPr>
                <a:xfrm>
                  <a:off x="825" y="6788"/>
                  <a:ext cx="4493" cy="549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  <a:sym typeface="+mn-ea"/>
                    </a:rPr>
                    <a:t>Spatial-Attention</a:t>
                  </a:r>
                </a:p>
              </p:txBody>
            </p:sp>
            <p:sp>
              <p:nvSpPr>
                <p:cNvPr id="39" name="圆角矩形 92">
                  <a:extLst>
                    <a:ext uri="{FF2B5EF4-FFF2-40B4-BE49-F238E27FC236}">
                      <a16:creationId xmlns:a16="http://schemas.microsoft.com/office/drawing/2014/main" id="{9B6DD017-F2E2-4DD5-B4D2-1CBE67286D03}"/>
                    </a:ext>
                  </a:extLst>
                </p:cNvPr>
                <p:cNvSpPr/>
                <p:nvPr/>
              </p:nvSpPr>
              <p:spPr>
                <a:xfrm>
                  <a:off x="825" y="5839"/>
                  <a:ext cx="4493" cy="549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3D-Attention</a:t>
                  </a:r>
                </a:p>
              </p:txBody>
            </p: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469B14AC-10BD-4C14-8FB3-6AF3DAB4954C}"/>
                    </a:ext>
                  </a:extLst>
                </p:cNvPr>
                <p:cNvCxnSpPr>
                  <a:stCxn id="44" idx="0"/>
                </p:cNvCxnSpPr>
                <p:nvPr/>
              </p:nvCxnSpPr>
              <p:spPr>
                <a:xfrm flipV="1">
                  <a:off x="-1779" y="9452"/>
                  <a:ext cx="0" cy="37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BC1FBA33-6B28-4976-AE83-9561ACEAA3F9}"/>
                    </a:ext>
                  </a:extLst>
                </p:cNvPr>
                <p:cNvCxnSpPr>
                  <a:stCxn id="45" idx="0"/>
                </p:cNvCxnSpPr>
                <p:nvPr/>
              </p:nvCxnSpPr>
              <p:spPr>
                <a:xfrm flipV="1">
                  <a:off x="14" y="9452"/>
                  <a:ext cx="0" cy="37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2" name="圆角矩形 95">
                  <a:extLst>
                    <a:ext uri="{FF2B5EF4-FFF2-40B4-BE49-F238E27FC236}">
                      <a16:creationId xmlns:a16="http://schemas.microsoft.com/office/drawing/2014/main" id="{18DE1968-AA8C-4F47-97A9-1C49A3351E89}"/>
                    </a:ext>
                  </a:extLst>
                </p:cNvPr>
                <p:cNvSpPr/>
                <p:nvPr/>
              </p:nvSpPr>
              <p:spPr>
                <a:xfrm>
                  <a:off x="5645" y="6552"/>
                  <a:ext cx="2381" cy="549"/>
                </a:xfrm>
                <a:prstGeom prst="roundRect">
                  <a:avLst/>
                </a:prstGeom>
                <a:solidFill>
                  <a:srgbClr val="F8B2B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Projector</a:t>
                  </a:r>
                </a:p>
              </p:txBody>
            </p:sp>
            <p:sp>
              <p:nvSpPr>
                <p:cNvPr id="43" name="圆角矩形 96">
                  <a:extLst>
                    <a:ext uri="{FF2B5EF4-FFF2-40B4-BE49-F238E27FC236}">
                      <a16:creationId xmlns:a16="http://schemas.microsoft.com/office/drawing/2014/main" id="{8A3F6629-5431-4171-BD84-969BB91174F6}"/>
                    </a:ext>
                  </a:extLst>
                </p:cNvPr>
                <p:cNvSpPr/>
                <p:nvPr/>
              </p:nvSpPr>
              <p:spPr>
                <a:xfrm>
                  <a:off x="825" y="4147"/>
                  <a:ext cx="4493" cy="549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  <a:sym typeface="+mn-ea"/>
                    </a:rPr>
                    <a:t>Cross-Attention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圆角矩形 97">
                      <a:extLst>
                        <a:ext uri="{FF2B5EF4-FFF2-40B4-BE49-F238E27FC236}">
                          <a16:creationId xmlns:a16="http://schemas.microsoft.com/office/drawing/2014/main" id="{57E81F24-B5E8-4DEE-9889-0557C54B22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368" y="9822"/>
                      <a:ext cx="1178" cy="548"/>
                    </a:xfrm>
                    <a:prstGeom prst="roundRect">
                      <a:avLst/>
                    </a:prstGeom>
                    <a:solidFill>
                      <a:srgbClr val="D2D5E0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4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圆角矩形 9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368" y="9822"/>
                      <a:ext cx="1178" cy="548"/>
                    </a:xfrm>
                    <a:prstGeom prst="roundRect">
                      <a:avLst/>
                    </a:prstGeom>
                    <a:blipFill rotWithShape="1">
                      <a:blip r:embed="rId8"/>
                    </a:blipFill>
                    <a:ln w="19050"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5" name="圆角矩形 98">
                  <a:extLst>
                    <a:ext uri="{FF2B5EF4-FFF2-40B4-BE49-F238E27FC236}">
                      <a16:creationId xmlns:a16="http://schemas.microsoft.com/office/drawing/2014/main" id="{B97289B6-661E-4FC9-AE37-1DEC11BAB458}"/>
                    </a:ext>
                  </a:extLst>
                </p:cNvPr>
                <p:cNvSpPr/>
                <p:nvPr/>
              </p:nvSpPr>
              <p:spPr>
                <a:xfrm>
                  <a:off x="-575" y="9822"/>
                  <a:ext cx="1178" cy="548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i="1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T</a:t>
                  </a:r>
                </a:p>
              </p:txBody>
            </p:sp>
            <p:sp>
              <p:nvSpPr>
                <p:cNvPr id="46" name="圆角矩形 99">
                  <a:extLst>
                    <a:ext uri="{FF2B5EF4-FFF2-40B4-BE49-F238E27FC236}">
                      <a16:creationId xmlns:a16="http://schemas.microsoft.com/office/drawing/2014/main" id="{832306DE-92AE-4C01-B4FC-60F95C0ABE79}"/>
                    </a:ext>
                  </a:extLst>
                </p:cNvPr>
                <p:cNvSpPr/>
                <p:nvPr/>
              </p:nvSpPr>
              <p:spPr>
                <a:xfrm>
                  <a:off x="-2369" y="8560"/>
                  <a:ext cx="3018" cy="934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channel-level concatenate</a:t>
                  </a:r>
                </a:p>
              </p:txBody>
            </p:sp>
            <p:cxnSp>
              <p:nvCxnSpPr>
                <p:cNvPr id="47" name="肘形连接符 100">
                  <a:extLst>
                    <a:ext uri="{FF2B5EF4-FFF2-40B4-BE49-F238E27FC236}">
                      <a16:creationId xmlns:a16="http://schemas.microsoft.com/office/drawing/2014/main" id="{DE5C397B-58C8-4D69-9D88-9C792346CD97}"/>
                    </a:ext>
                  </a:extLst>
                </p:cNvPr>
                <p:cNvCxnSpPr>
                  <a:stCxn id="46" idx="0"/>
                  <a:endCxn id="43" idx="1"/>
                </p:cNvCxnSpPr>
                <p:nvPr/>
              </p:nvCxnSpPr>
              <p:spPr>
                <a:xfrm rot="16200000">
                  <a:off x="-2086" y="5649"/>
                  <a:ext cx="4138" cy="1685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8" name="圆角矩形 101">
                  <a:extLst>
                    <a:ext uri="{FF2B5EF4-FFF2-40B4-BE49-F238E27FC236}">
                      <a16:creationId xmlns:a16="http://schemas.microsoft.com/office/drawing/2014/main" id="{64BFDE1B-172E-4593-A750-E6721956B940}"/>
                    </a:ext>
                  </a:extLst>
                </p:cNvPr>
                <p:cNvSpPr/>
                <p:nvPr/>
              </p:nvSpPr>
              <p:spPr>
                <a:xfrm>
                  <a:off x="825" y="3284"/>
                  <a:ext cx="4493" cy="549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  <a:sym typeface="+mn-ea"/>
                    </a:rPr>
                    <a:t>FFN</a:t>
                  </a:r>
                </a:p>
              </p:txBody>
            </p:sp>
            <p:sp>
              <p:nvSpPr>
                <p:cNvPr id="49" name="圆角矩形 102">
                  <a:extLst>
                    <a:ext uri="{FF2B5EF4-FFF2-40B4-BE49-F238E27FC236}">
                      <a16:creationId xmlns:a16="http://schemas.microsoft.com/office/drawing/2014/main" id="{7BCA2588-9ED1-4678-88C7-C9B6D078F10F}"/>
                    </a:ext>
                  </a:extLst>
                </p:cNvPr>
                <p:cNvSpPr/>
                <p:nvPr/>
              </p:nvSpPr>
              <p:spPr>
                <a:xfrm>
                  <a:off x="825" y="2402"/>
                  <a:ext cx="4493" cy="549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b*f*h//16*d//16</a:t>
                  </a:r>
                </a:p>
              </p:txBody>
            </p:sp>
            <p:sp>
              <p:nvSpPr>
                <p:cNvPr id="50" name="梯形 49">
                  <a:extLst>
                    <a:ext uri="{FF2B5EF4-FFF2-40B4-BE49-F238E27FC236}">
                      <a16:creationId xmlns:a16="http://schemas.microsoft.com/office/drawing/2014/main" id="{3417AC37-FF2C-41C6-AC80-AD52B4884356}"/>
                    </a:ext>
                  </a:extLst>
                </p:cNvPr>
                <p:cNvSpPr/>
                <p:nvPr/>
              </p:nvSpPr>
              <p:spPr>
                <a:xfrm>
                  <a:off x="5647" y="9003"/>
                  <a:ext cx="2060" cy="763"/>
                </a:xfrm>
                <a:prstGeom prst="trapezoid">
                  <a:avLst>
                    <a:gd name="adj" fmla="val 19806"/>
                  </a:avLst>
                </a:prstGeom>
                <a:solidFill>
                  <a:srgbClr val="F8B2B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 dirty="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Camera Encoder</a:t>
                  </a:r>
                </a:p>
              </p:txBody>
            </p:sp>
            <p:sp>
              <p:nvSpPr>
                <p:cNvPr id="51" name="圆角矩形 104">
                  <a:extLst>
                    <a:ext uri="{FF2B5EF4-FFF2-40B4-BE49-F238E27FC236}">
                      <a16:creationId xmlns:a16="http://schemas.microsoft.com/office/drawing/2014/main" id="{EB33809B-6508-45C6-A4FE-9FA6C8D7B0BF}"/>
                    </a:ext>
                  </a:extLst>
                </p:cNvPr>
                <p:cNvSpPr/>
                <p:nvPr/>
              </p:nvSpPr>
              <p:spPr>
                <a:xfrm>
                  <a:off x="5508" y="7338"/>
                  <a:ext cx="2644" cy="516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 Regular" panose="02020503050405090304" charset="0"/>
                      <a:cs typeface="Times New Roman Regular" panose="02020503050405090304" charset="0"/>
                    </a:rPr>
                    <a:t>Repeat &amp; Expression</a:t>
                  </a:r>
                </a:p>
              </p:txBody>
            </p:sp>
            <p:sp>
              <p:nvSpPr>
                <p:cNvPr id="52" name="圆角矩形 105">
                  <a:extLst>
                    <a:ext uri="{FF2B5EF4-FFF2-40B4-BE49-F238E27FC236}">
                      <a16:creationId xmlns:a16="http://schemas.microsoft.com/office/drawing/2014/main" id="{050ADA74-16BA-4C74-A685-08B53AD06E47}"/>
                    </a:ext>
                  </a:extLst>
                </p:cNvPr>
                <p:cNvSpPr/>
                <p:nvPr/>
              </p:nvSpPr>
              <p:spPr>
                <a:xfrm>
                  <a:off x="5318" y="9856"/>
                  <a:ext cx="2836" cy="548"/>
                </a:xfrm>
                <a:prstGeom prst="roundRect">
                  <a:avLst/>
                </a:prstGeom>
                <a:solidFill>
                  <a:srgbClr val="D2D5E0"/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相机外参</a:t>
                  </a:r>
                  <a:r>
                    <a:rPr lang="en-US" altLang="zh-CN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（</a:t>
                  </a:r>
                  <a:r>
                    <a:rPr lang="zh-CN" altLang="en-US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控制轨迹</a:t>
                  </a:r>
                  <a:r>
                    <a:rPr lang="en-US" altLang="zh-CN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）</a:t>
                  </a:r>
                </a:p>
                <a:p>
                  <a:pPr algn="ctr"/>
                  <a:r>
                    <a:rPr lang="zh-CN" altLang="en-US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相机内参</a:t>
                  </a:r>
                  <a:r>
                    <a:rPr lang="en-US" altLang="zh-CN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（</a:t>
                  </a:r>
                  <a:r>
                    <a:rPr lang="zh-CN" altLang="en-US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控制景深</a:t>
                  </a:r>
                  <a:r>
                    <a:rPr lang="en-US" altLang="zh-CN" sz="600" i="1">
                      <a:solidFill>
                        <a:schemeClr val="tx1"/>
                      </a:solidFill>
                      <a:latin typeface="DejaVu Math TeX Gyre" panose="02000503000000000000" charset="0"/>
                      <a:cs typeface="DejaVu Math TeX Gyre" panose="02000503000000000000" charset="0"/>
                    </a:rPr>
                    <a:t>）</a:t>
                  </a:r>
                </a:p>
              </p:txBody>
            </p:sp>
            <p:sp>
              <p:nvSpPr>
                <p:cNvPr id="53" name="圆角矩形 106">
                  <a:extLst>
                    <a:ext uri="{FF2B5EF4-FFF2-40B4-BE49-F238E27FC236}">
                      <a16:creationId xmlns:a16="http://schemas.microsoft.com/office/drawing/2014/main" id="{8487766E-D718-4F11-B95D-F13318E8EC95}"/>
                    </a:ext>
                  </a:extLst>
                </p:cNvPr>
                <p:cNvSpPr/>
                <p:nvPr/>
              </p:nvSpPr>
              <p:spPr>
                <a:xfrm>
                  <a:off x="-2576" y="2068"/>
                  <a:ext cx="10906" cy="8684"/>
                </a:xfrm>
                <a:prstGeom prst="roundRect">
                  <a:avLst>
                    <a:gd name="adj" fmla="val 5213"/>
                  </a:avLst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latin typeface="Times New Roman Regular" panose="02020503050405090304" charset="0"/>
                    <a:cs typeface="Times New Roman Regular" panose="02020503050405090304" charset="0"/>
                  </a:endParaRPr>
                </a:p>
              </p:txBody>
            </p:sp>
          </p:grp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ABEAB16-79FC-461B-AAB7-1E3FB193D028}"/>
                  </a:ext>
                </a:extLst>
              </p:cNvPr>
              <p:cNvCxnSpPr/>
              <p:nvPr/>
            </p:nvCxnSpPr>
            <p:spPr>
              <a:xfrm flipV="1">
                <a:off x="6934" y="1815"/>
                <a:ext cx="3710" cy="2249"/>
              </a:xfrm>
              <a:prstGeom prst="line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09C595F-871D-4D30-A9A1-472826A9AF6E}"/>
                  </a:ext>
                </a:extLst>
              </p:cNvPr>
              <p:cNvCxnSpPr/>
              <p:nvPr/>
            </p:nvCxnSpPr>
            <p:spPr>
              <a:xfrm>
                <a:off x="6934" y="5470"/>
                <a:ext cx="3686" cy="4187"/>
              </a:xfrm>
              <a:prstGeom prst="line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66892BE-0ED6-493F-8C90-8706C68E0B39}"/>
                  </a:ext>
                </a:extLst>
              </p:cNvPr>
              <p:cNvSpPr txBox="1"/>
              <p:nvPr/>
            </p:nvSpPr>
            <p:spPr>
              <a:xfrm>
                <a:off x="17336" y="8073"/>
                <a:ext cx="701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>
                    <a:latin typeface="Times New Roman Regular" panose="02020503050405090304" charset="0"/>
                    <a:cs typeface="Times New Roman Regular" panose="02020503050405090304" charset="0"/>
                  </a:rPr>
                  <a:t>🔥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1C87991-A94D-4B74-8845-3EA8E1E8192E}"/>
                  </a:ext>
                </a:extLst>
              </p:cNvPr>
              <p:cNvSpPr txBox="1"/>
              <p:nvPr/>
            </p:nvSpPr>
            <p:spPr>
              <a:xfrm>
                <a:off x="17811" y="5795"/>
                <a:ext cx="701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>
                    <a:latin typeface="Times New Roman Regular" panose="02020503050405090304" charset="0"/>
                    <a:cs typeface="Times New Roman Regular" panose="02020503050405090304" charset="0"/>
                  </a:rPr>
                  <a:t>🔥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E8ED8DB0-2C5F-4BC6-825B-C21E7A423ABC}"/>
                  </a:ext>
                </a:extLst>
              </p:cNvPr>
              <p:cNvSpPr/>
              <p:nvPr/>
            </p:nvSpPr>
            <p:spPr>
              <a:xfrm>
                <a:off x="15703" y="5253"/>
                <a:ext cx="930" cy="514"/>
              </a:xfrm>
              <a:prstGeom prst="rect">
                <a:avLst/>
              </a:prstGeom>
              <a:solidFill>
                <a:srgbClr val="F8B2B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LoRA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5F2DF54-8308-431B-8FBA-871718408BDD}"/>
                  </a:ext>
                </a:extLst>
              </p:cNvPr>
              <p:cNvSpPr txBox="1"/>
              <p:nvPr/>
            </p:nvSpPr>
            <p:spPr>
              <a:xfrm>
                <a:off x="16329" y="5143"/>
                <a:ext cx="701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1000">
                    <a:latin typeface="Times New Roman Regular" panose="02020503050405090304" charset="0"/>
                    <a:cs typeface="Times New Roman Regular" panose="02020503050405090304" charset="0"/>
                  </a:rPr>
                  <a:t>🔥</a:t>
                </a:r>
              </a:p>
            </p:txBody>
          </p:sp>
        </p:grpSp>
        <p:sp>
          <p:nvSpPr>
            <p:cNvPr id="14" name="圆角矩形 113">
              <a:extLst>
                <a:ext uri="{FF2B5EF4-FFF2-40B4-BE49-F238E27FC236}">
                  <a16:creationId xmlns:a16="http://schemas.microsoft.com/office/drawing/2014/main" id="{E45152FC-F061-4890-8701-0C1EAD168FBB}"/>
                </a:ext>
              </a:extLst>
            </p:cNvPr>
            <p:cNvSpPr/>
            <p:nvPr/>
          </p:nvSpPr>
          <p:spPr>
            <a:xfrm>
              <a:off x="9984" y="4257"/>
              <a:ext cx="2486" cy="514"/>
            </a:xfrm>
            <a:prstGeom prst="roundRect">
              <a:avLst/>
            </a:prstGeom>
            <a:solidFill>
              <a:srgbClr val="E3F2D9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Camera Cross-Attention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83C44AA-49DE-4517-9571-E72D1EE12B53}"/>
                </a:ext>
              </a:extLst>
            </p:cNvPr>
            <p:cNvGrpSpPr/>
            <p:nvPr/>
          </p:nvGrpSpPr>
          <p:grpSpPr>
            <a:xfrm>
              <a:off x="12334" y="7430"/>
              <a:ext cx="1957" cy="531"/>
              <a:chOff x="15324" y="7386"/>
              <a:chExt cx="1957" cy="531"/>
            </a:xfrm>
          </p:grpSpPr>
          <p:sp>
            <p:nvSpPr>
              <p:cNvPr id="23" name="圆角矩形 115">
                <a:extLst>
                  <a:ext uri="{FF2B5EF4-FFF2-40B4-BE49-F238E27FC236}">
                    <a16:creationId xmlns:a16="http://schemas.microsoft.com/office/drawing/2014/main" id="{B7CD591B-FF3D-44F8-9B28-E66B64E07225}"/>
                  </a:ext>
                </a:extLst>
              </p:cNvPr>
              <p:cNvSpPr/>
              <p:nvPr/>
            </p:nvSpPr>
            <p:spPr>
              <a:xfrm>
                <a:off x="15478" y="7391"/>
                <a:ext cx="1577" cy="526"/>
              </a:xfrm>
              <a:prstGeom prst="roundRect">
                <a:avLst/>
              </a:prstGeom>
              <a:solidFill>
                <a:srgbClr val="E3F2D9"/>
              </a:solidFill>
              <a:ln w="12700">
                <a:solidFill>
                  <a:srgbClr val="000000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7E8DCD3-F32B-4293-A24F-E146703B398B}"/>
                  </a:ext>
                </a:extLst>
              </p:cNvPr>
              <p:cNvSpPr txBox="1"/>
              <p:nvPr/>
            </p:nvSpPr>
            <p:spPr>
              <a:xfrm>
                <a:off x="15324" y="7386"/>
                <a:ext cx="1957" cy="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>
                    <a:solidFill>
                      <a:srgbClr val="2C2C36"/>
                    </a:solidFill>
                    <a:latin typeface="Times New Roman" panose="02020503050405090304"/>
                    <a:ea typeface="Times New Roman" panose="02020503050405090304"/>
                  </a:rPr>
                  <a:t>Plücker Embedding </a:t>
                </a:r>
              </a:p>
              <a:p>
                <a:pPr algn="ctr"/>
                <a:r>
                  <a:rPr lang="en-US" altLang="zh-CN" sz="800">
                    <a:solidFill>
                      <a:srgbClr val="2C2C36"/>
                    </a:solidFill>
                    <a:latin typeface="Times New Roman" panose="02020503050405090304"/>
                    <a:ea typeface="Times New Roman" panose="02020503050405090304"/>
                  </a:rPr>
                  <a:t>[B, T, H’, W’, 6]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121D57E-6127-4AAD-A190-8C5620A4B403}"/>
                </a:ext>
              </a:extLst>
            </p:cNvPr>
            <p:cNvGrpSpPr/>
            <p:nvPr/>
          </p:nvGrpSpPr>
          <p:grpSpPr>
            <a:xfrm>
              <a:off x="1539" y="1050"/>
              <a:ext cx="3161" cy="1538"/>
              <a:chOff x="14784" y="1503"/>
              <a:chExt cx="3161" cy="1538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A82F287-92FA-4AD7-838A-9F3E91CBEDF2}"/>
                  </a:ext>
                </a:extLst>
              </p:cNvPr>
              <p:cNvSpPr/>
              <p:nvPr/>
            </p:nvSpPr>
            <p:spPr>
              <a:xfrm>
                <a:off x="14797" y="2056"/>
                <a:ext cx="310" cy="347"/>
              </a:xfrm>
              <a:prstGeom prst="rect">
                <a:avLst/>
              </a:prstGeom>
              <a:solidFill>
                <a:srgbClr val="F8B2B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FF3B84D-8D63-4345-BA87-32968ED2D7F3}"/>
                  </a:ext>
                </a:extLst>
              </p:cNvPr>
              <p:cNvSpPr/>
              <p:nvPr/>
            </p:nvSpPr>
            <p:spPr>
              <a:xfrm>
                <a:off x="14784" y="1574"/>
                <a:ext cx="310" cy="347"/>
              </a:xfrm>
              <a:prstGeom prst="rect">
                <a:avLst/>
              </a:prstGeom>
              <a:solidFill>
                <a:srgbClr val="DAE3F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1C76409-C511-4A54-B03A-63ADC767C12F}"/>
                  </a:ext>
                </a:extLst>
              </p:cNvPr>
              <p:cNvSpPr/>
              <p:nvPr/>
            </p:nvSpPr>
            <p:spPr>
              <a:xfrm>
                <a:off x="14797" y="2625"/>
                <a:ext cx="310" cy="347"/>
              </a:xfrm>
              <a:prstGeom prst="rect">
                <a:avLst/>
              </a:prstGeom>
              <a:solidFill>
                <a:srgbClr val="E3F2D9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B70DF16-59B7-408E-A00E-DA6E8E6AFA65}"/>
                  </a:ext>
                </a:extLst>
              </p:cNvPr>
              <p:cNvSpPr txBox="1"/>
              <p:nvPr/>
            </p:nvSpPr>
            <p:spPr>
              <a:xfrm>
                <a:off x="15094" y="2558"/>
                <a:ext cx="283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Times New Roman Regular" panose="02020503050405090304" charset="0"/>
                    <a:cs typeface="Times New Roman Regular" panose="02020503050405090304" charset="0"/>
                  </a:rPr>
                  <a:t>candidate modulation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ED41922-4DA7-4AE1-A855-5AF576200968}"/>
                  </a:ext>
                </a:extLst>
              </p:cNvPr>
              <p:cNvSpPr txBox="1"/>
              <p:nvPr/>
            </p:nvSpPr>
            <p:spPr>
              <a:xfrm>
                <a:off x="15107" y="1503"/>
                <a:ext cx="283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Times New Roman Regular" panose="02020503050405090304" charset="0"/>
                    <a:cs typeface="Times New Roman Regular" panose="02020503050405090304" charset="0"/>
                  </a:rPr>
                  <a:t>DiT module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F62114C-AEE2-4F18-9452-F60C448269A9}"/>
                  </a:ext>
                </a:extLst>
              </p:cNvPr>
              <p:cNvSpPr txBox="1"/>
              <p:nvPr/>
            </p:nvSpPr>
            <p:spPr>
              <a:xfrm>
                <a:off x="15092" y="1987"/>
                <a:ext cx="283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Times New Roman Regular" panose="02020503050405090304" charset="0"/>
                    <a:cs typeface="Times New Roman Regular" panose="02020503050405090304" charset="0"/>
                  </a:rPr>
                  <a:t>camera modulation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13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Times New Roman Regular</vt:lpstr>
      <vt:lpstr>等线</vt:lpstr>
      <vt:lpstr>等线 Light</vt:lpstr>
      <vt:lpstr>Arial</vt:lpstr>
      <vt:lpstr>Cambria Math</vt:lpstr>
      <vt:lpstr>DejaVu Math TeX Gyre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博豪 王</dc:creator>
  <cp:lastModifiedBy>博豪 王</cp:lastModifiedBy>
  <cp:revision>1</cp:revision>
  <dcterms:created xsi:type="dcterms:W3CDTF">2025-12-02T12:36:41Z</dcterms:created>
  <dcterms:modified xsi:type="dcterms:W3CDTF">2025-12-02T12:36:50Z</dcterms:modified>
</cp:coreProperties>
</file>